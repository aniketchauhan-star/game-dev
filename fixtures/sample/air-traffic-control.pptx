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7" r:id="rId100"/>
    <p:sldId id="258" r:id="rId101"/>
    <p:sldId id="259" r:id="rId102"/>
    <p:sldId id="266" r:id="rId103"/>
    <p:sldId id="260" r:id="rId104"/>
    <p:sldId id="261" r:id="rId105"/>
    <p:sldId id="262" r:id="rId106"/>
    <p:sldId id="263" r:id="rId107"/>
    <p:sldId id="264" r:id="rId108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10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sz="quarter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Hook: ask how air traffic controllers say exactly where an aircraft is.</a:t>
            </a:r>
          </a:p>
          <a:p>
            <a:pPr>
              <a:buNone/>
            </a:pPr>
            <a:r>
              <a:rPr lang="en-US" dirty="0"/>
              <a:t>Today learners guide aircraft using ordered pairs.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Draw both axes on the board. Stress equal spacing on both axes.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Common mistake: swapping x and y.</a:t>
            </a:r>
          </a:p>
          <a:p>
            <a:pPr>
              <a:buNone/>
            </a:pPr>
            <a:r>
              <a:rPr lang="en-US" dirty="0"/>
              <a:t>Ask learners to say each move aloud before they move.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Contrast (−4, −3) with (4, 3) on the grid.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Hidden slide — not shown to learners.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Model each step with flight NX7 before learners try.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Extension only; not required for the mission.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Use the game to practise; discuss errors as a class.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Quadrants are numbered counter-clockwise, starting at the top right.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Master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000"/>
      </a:lvl1pPr>
    </p:titleStyle>
    <p:bodyStyle>
      <a:lvl1pPr marL="228600" indent="-228600">
        <a:buFont typeface="Arial"/>
        <a:buChar char="•"/>
        <a:defRPr sz="2400"/>
      </a:lvl1pPr>
      <a:lvl2pPr marL="685800" indent="-228600">
        <a:buFont typeface="Arial"/>
        <a:buChar char="•"/>
        <a:defRPr sz="20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coordinate-grid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aircraft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airfield-map.png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 Traffic Control: Coordinate 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Grade 9 Mathematics · The coordinate plane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airfield is a coordinate plane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The x-axis runs left to right.</a:t>
            </a:r>
          </a:p>
          <a:p>
            <a:r>
              <a:rPr lang="en-US" dirty="0"/>
              <a:t>The y-axis runs bottom to top.</a:t>
            </a:r>
          </a:p>
          <a:p>
            <a:r>
              <a:rPr lang="en-US" dirty="0"/>
              <a:t>The axes cross at the origin, (0, 0).</a:t>
            </a:r>
          </a:p>
          <a:p>
            <a:r>
              <a:rPr lang="en-US" dirty="0"/>
              <a:t>Grid lines are equally spaced on both axes.</a:t>
            </a:r>
          </a:p>
        </p:txBody>
      </p:sp>
      <p:pic>
        <p:nvPicPr>
          <p:cNvPr id="4" name="Picture 5" descr="Coordinate grid with x- and y-axes crossing at the origin and the point (3, 2) mark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5625"/>
            <a:ext cx="4953000" cy="38523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 ordered pair (x, 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x: move right (+) or left (−) from the origin.</a:t>
            </a:r>
          </a:p>
          <a:p>
            <a:r>
              <a:rPr lang="en-US" dirty="0"/>
              <a:t>y: move up (+) or down (−).</a:t>
            </a:r>
          </a:p>
          <a:p>
            <a:r>
              <a:rPr lang="en-US" dirty="0"/>
              <a:t>Always move along x first, then y.</a:t>
            </a:r>
          </a:p>
          <a:p>
            <a:pPr lvl="1"/>
            <a:r>
              <a:rPr lang="en-US" dirty="0"/>
              <a:t>Example: (3, 2) means 3 right, then 2 up.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(−4, −3) means 4 left, then 3 down.</a:t>
            </a:r>
          </a:p>
          <a:p>
            <a:r>
              <a:rPr lang="en-US" dirty="0"/>
              <a:t>The sign gives the direction; the number gives the distance.</a:t>
            </a:r>
          </a:p>
          <a:p>
            <a:r>
              <a:rPr lang="en-US" dirty="0"/>
              <a:t>(−4, −3) is in Quadrant III.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 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Runway Alpha: (3, 2)</a:t>
            </a:r>
          </a:p>
          <a:p>
            <a:r>
              <a:rPr lang="en-US" dirty="0"/>
              <a:t>Hangar: (−4, −3)</a:t>
            </a:r>
          </a:p>
          <a:p>
            <a:r>
              <a:rPr lang="en-US" dirty="0"/>
              <a:t>Practice target: (3, −2)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Tower to runway: plotting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1. Start at the origin.</a:t>
            </a:r>
          </a:p>
          <a:p>
            <a:r>
              <a:rPr lang="en-US" dirty="0"/>
              <a:t>2. Move along the x-axis.</a:t>
            </a:r>
          </a:p>
          <a:p>
            <a:r>
              <a:rPr lang="en-US" dirty="0"/>
              <a:t>3. Move parallel to the y-axis.</a:t>
            </a:r>
          </a:p>
          <a:p>
            <a:r>
              <a:rPr lang="en-US" dirty="0"/>
              <a:t>4. Confirm the position with the tower.</a:t>
            </a:r>
          </a:p>
        </p:txBody>
      </p:sp>
      <p:pic>
        <p:nvPicPr>
          <p:cNvPr id="4" name="Picture 5" descr="Top view of a passenger aircraft (transparent background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657600"/>
            <a:ext cx="1828800" cy="1828800"/>
          </a:xfrm>
          <a:prstGeom prst="rect">
            <a:avLst/>
          </a:prstGeom>
        </p:spPr>
      </p:pic>
      <p:grpSp>
        <p:nvGrpSpPr>
          <p:cNvPr id="7" name="Group"/>
          <p:cNvGrpSpPr/>
          <p:nvPr/>
        </p:nvGrpSpPr>
        <p:grpSpPr>
          <a:xfrm>
            <a:off x="7010400" y="1828800"/>
            <a:ext cx="3962400" cy="609600"/>
            <a:chOff x="0" y="0"/>
            <a:chExt cx="1981200" cy="304800"/>
          </a:xfrm>
        </p:grpSpPr>
        <p:sp>
          <p:nvSpPr>
            <p:cNvPr id="5" name="Group text 6"/>
            <p:cNvSpPr txBox="1"/>
            <p:nvPr/>
          </p:nvSpPr>
          <p:spPr>
            <a:xfrm>
              <a:off x="0" y="0"/>
              <a:ext cx="914400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/>
                <a:t>TOWER</a:t>
              </a:r>
            </a:p>
          </p:txBody>
        </p:sp>
        <p:sp>
          <p:nvSpPr>
            <p:cNvPr id="6" name="Group text 7"/>
            <p:cNvSpPr txBox="1"/>
            <p:nvPr/>
          </p:nvSpPr>
          <p:spPr>
            <a:xfrm>
              <a:off x="1066800" y="0"/>
              <a:ext cx="914400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2000" dirty="0"/>
                <a:t>RUNWAY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Extension: distance between two aircraft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for fast finishers.</a:t>
            </a:r>
          </a:p>
        </p:txBody>
      </p:sp>
      <p:sp>
        <p:nvSpPr>
          <p:cNvPr id="4" name="Equation 4"/>
          <p:cNvSpPr txBox="1"/>
          <p:nvPr/>
        </p:nvSpPr>
        <p:spPr>
          <a:xfrm>
            <a:off x="1524000" y="4600000"/>
            <a:ext cx="91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d=</m:t>
                      </m:r>
                      <m:rad>
                        <m:radPr>
                          <m:degHide m:val="1"/>
                        </m:radPr>
                        <m:deg/>
                        <m:e>
                          <m:sSup>
                            <m:e>
                              <m:d>
                                <m:dPr/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+</m:t>
                          </m:r>
                          <m:sSup>
                            <m:e>
                              <m:d>
                                <m:dPr/>
                                <m:e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sSub>
                                    <m:e>
                                      <m:r>
                                        <m:t>y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mc:Choice>
              <mc:Fallback>
                <a:r>
                  <a:rPr lang="en-US" dirty="0"/>
                  <a:t>d = √((x₂ − x₁)² + (y₂ − y₁)²)</a:t>
                </a:r>
              </mc:Fallback>
            </mc:AlternateContent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Guide flight NX7 to runway (3, −2).</a:t>
            </a:r>
          </a:p>
          <a:p>
            <a:r>
              <a:rPr lang="en-US" dirty="0"/>
              <a:t>Park a plane anywhere in Quadrant II.</a:t>
            </a:r>
          </a:p>
          <a:p>
            <a:r>
              <a:rPr lang="en-US" dirty="0"/>
              <a:t>Line up aircraft by x-coordinate, left to right.</a:t>
            </a:r>
          </a:p>
        </p:txBody>
      </p:sp>
      <p:pic>
        <p:nvPicPr>
          <p:cNvPr id="4" name="Picture 5" descr="Top-down airfield map with two runways and a control tow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5625"/>
            <a:ext cx="4953000" cy="27860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four quadrants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n-US" dirty="0"/>
              <a:t>The axes split the plane into four quadrants.</a:t>
            </a:r>
          </a:p>
          <a:p>
            <a:r>
              <a:rPr lang="en-US" dirty="0"/>
              <a:t>Points on an axis are not in any quadrant.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400800" y="1825625"/>
          <a:ext cx="4953000" cy="2286000"/>
        </p:xfrm>
        <a:graphic>
          <a:graphicData uri="http://schemas.openxmlformats.org/drawingml/2006/table">
            <a:tbl>
              <a:tblPr firstRow="1" bandRow="1"/>
              <a:tblGrid>
                <a:gridCol w="1651000"/>
                <a:gridCol w="1651000"/>
                <a:gridCol w="1651000"/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Quadrant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NEXUS Sample">
  <a:themeElements>
    <a:clrScheme name="NEXUS">
      <a:dk1>
        <a:srgbClr val="1B2533"/>
      </a:dk1>
      <a:lt1>
        <a:srgbClr val="FFFFFF"/>
      </a:lt1>
      <a:dk2>
        <a:srgbClr val="1F3A5F"/>
      </a:dk2>
      <a:lt2>
        <a:srgbClr val="E8F1FA"/>
      </a:lt2>
      <a:accent1>
        <a:srgbClr val="1F5FAD"/>
      </a:accent1>
      <a:accent2>
        <a:srgbClr val="D9480F"/>
      </a:accent2>
      <a:accent3>
        <a:srgbClr val="1B7F45"/>
      </a:accent3>
      <a:accent4>
        <a:srgbClr val="6B3FD1"/>
      </a:accent4>
      <a:accent5>
        <a:srgbClr val="0E7C8A"/>
      </a:accent5>
      <a:accent6>
        <a:srgbClr val="B3261E"/>
      </a:accent6>
      <a:hlink>
        <a:srgbClr val="1F5FAD"/>
      </a:hlink>
      <a:folHlink>
        <a:srgbClr val="6B3FD1"/>
      </a:folHlink>
    </a:clrScheme>
    <a:fontScheme name="NEXU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EX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XUS Sample">
  <a:themeElements>
    <a:clrScheme name="NEXUS">
      <a:dk1>
        <a:srgbClr val="1B2533"/>
      </a:dk1>
      <a:lt1>
        <a:srgbClr val="FFFFFF"/>
      </a:lt1>
      <a:dk2>
        <a:srgbClr val="1F3A5F"/>
      </a:dk2>
      <a:lt2>
        <a:srgbClr val="E8F1FA"/>
      </a:lt2>
      <a:accent1>
        <a:srgbClr val="1F5FAD"/>
      </a:accent1>
      <a:accent2>
        <a:srgbClr val="D9480F"/>
      </a:accent2>
      <a:accent3>
        <a:srgbClr val="1B7F45"/>
      </a:accent3>
      <a:accent4>
        <a:srgbClr val="6B3FD1"/>
      </a:accent4>
      <a:accent5>
        <a:srgbClr val="0E7C8A"/>
      </a:accent5>
      <a:accent6>
        <a:srgbClr val="B3261E"/>
      </a:accent6>
      <a:hlink>
        <a:srgbClr val="1F5FAD"/>
      </a:hlink>
      <a:folHlink>
        <a:srgbClr val="6B3FD1"/>
      </a:folHlink>
    </a:clrScheme>
    <a:fontScheme name="NEXU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EX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NEXUS Play Studio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Air Traffic Control — Coordinate Mission</dc:title>
  <dc:creator>NEXUS Play Studio sample</dc:creator>
  <dcterms:created xsi:type="dcterms:W3CDTF">2026-01-01T00:00:00Z</dcterms:created>
</cp:coreProperties>
</file>