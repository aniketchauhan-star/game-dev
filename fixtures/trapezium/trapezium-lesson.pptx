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7" r:id="rId100"/>
    <p:sldId id="258" r:id="rId101"/>
    <p:sldId id="259" r:id="rId102"/>
    <p:sldId id="260" r:id="rId103"/>
    <p:sldId id="261" r:id="rId104"/>
    <p:sldId id="262" r:id="rId105"/>
    <p:sldId id="263" r:id="rId106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100" Type="http://schemas.openxmlformats.org/officeDocument/2006/relationships/slide" Target="slides/slide1.xml"/><Relationship Id="rId101" Type="http://schemas.openxmlformats.org/officeDocument/2006/relationships/slide" Target="slides/slide2.xml"/><Relationship Id="rId102" Type="http://schemas.openxmlformats.org/officeDocument/2006/relationships/slide" Target="slides/slide3.xml"/><Relationship Id="rId103" Type="http://schemas.openxmlformats.org/officeDocument/2006/relationships/slide" Target="slides/slide4.xml"/><Relationship Id="rId104" Type="http://schemas.openxmlformats.org/officeDocument/2006/relationships/slide" Target="slides/slide5.xml"/><Relationship Id="rId105" Type="http://schemas.openxmlformats.org/officeDocument/2006/relationships/slide" Target="slides/slide6.xml"/><Relationship Id="rId106" Type="http://schemas.openxmlformats.org/officeDocument/2006/relationships/slide" Target="slides/slide7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en-US" dirty="0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Sample lesson bundled with NEXUS Play Studio.</a:t>
            </a:r>
          </a:p>
          <a:p>
            <a:pPr>
              <a:buNone/>
            </a:pPr>
            <a:r>
              <a:rPr lang="en-US" dirty="0"/>
              <a:t>Hook: Swiftee the arctic bird needs help sorting ice floes by shape.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We use the inclusive definition (at least one pair), as in our textbook.</a:t>
            </a:r>
          </a:p>
          <a:p>
            <a:pPr>
              <a:buNone/>
            </a:pPr>
            <a:r>
              <a:rPr lang="en-US" dirty="0"/>
              <a:t>Some books use “exactly one pair” — mention it, but keep our definition.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Guided identification: model one shape, then let learners try.</a:t>
            </a:r>
          </a:p>
          <a:p>
            <a:pPr>
              <a:buNone/>
            </a:pPr>
            <a:r>
              <a:rPr lang="en-US" dirty="0"/>
              <a:t>Common mistake: thinking a kite has parallel sides.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Answer rule: a shape is a trapezium if it has at least one pair of parallel sides.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Matching practice for the game.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Hidden slide — not shown to learners.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Exit ticket: draw a trapezium that is not a parallelogram.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/>
              <a:t>Subtitle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Master 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>
        <a:defRPr sz="4000"/>
      </a:lvl1pPr>
    </p:titleStyle>
    <p:bodyStyle>
      <a:lvl1pPr marL="228600" indent="-228600">
        <a:buFont typeface="Arial"/>
        <a:buChar char="•"/>
        <a:defRPr sz="2400"/>
      </a:lvl1pPr>
      <a:lvl2pPr marL="685800" indent="-228600">
        <a:buFont typeface="Arial"/>
        <a:buChar char="•"/>
        <a:defRPr sz="20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trapezium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parallelogram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kite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Trapezium Quest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Grade 8 Mathematics · Quadrilaterals (sample lesson)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trapezium?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n-US" dirty="0"/>
              <a:t>A trapezium is a quadrilateral with at least one pair of parallel sides.</a:t>
            </a:r>
          </a:p>
          <a:p>
            <a:r>
              <a:rPr lang="en-US" dirty="0"/>
              <a:t>The parallel sides are called the bases.</a:t>
            </a:r>
          </a:p>
          <a:p>
            <a:r>
              <a:rPr lang="en-US" dirty="0"/>
              <a:t>The other two sides are called the legs.</a:t>
            </a:r>
          </a:p>
          <a:p>
            <a:r>
              <a:rPr lang="en-US" dirty="0"/>
              <a:t>With this definition, every parallelogram is also a trapezium.</a:t>
            </a:r>
          </a:p>
        </p:txBody>
      </p:sp>
      <p:pic>
        <p:nvPicPr>
          <p:cNvPr id="4" name="Picture 5" descr="A trapezium with arrow marks on its two parallel bas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36576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parallel sides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n-US" dirty="0"/>
              <a:t>Parallel sides never meet, however far they are extended.</a:t>
            </a:r>
          </a:p>
          <a:p>
            <a:r>
              <a:rPr lang="en-US" dirty="0"/>
              <a:t>Arrow marks on a diagram show which sides are parallel.</a:t>
            </a:r>
          </a:p>
          <a:p>
            <a:r>
              <a:rPr lang="en-US" dirty="0"/>
              <a:t>Check each shape: does it have at least one pair of parallel sides?</a:t>
            </a:r>
          </a:p>
        </p:txBody>
      </p:sp>
      <p:pic>
        <p:nvPicPr>
          <p:cNvPr id="4" name="Picture 5" descr="A parallelogram with arrow marks showing two pairs of parallel sid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36576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Trapezium or not?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n-US" dirty="0"/>
              <a:t>Count the pairs of parallel sides.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6400800" y="1825625"/>
          <a:ext cx="4953000" cy="2286000"/>
        </p:xfrm>
        <a:graphic>
          <a:graphicData uri="http://schemas.openxmlformats.org/drawingml/2006/table">
            <a:tbl>
              <a:tblPr firstRow="1" bandRow="1"/>
              <a:tblGrid>
                <a:gridCol w="1651000"/>
                <a:gridCol w="1651000"/>
                <a:gridCol w="1651000"/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Pairs of parallel sides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Trapezium?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Trapezium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Yes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Right trapezium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Yes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Parallelogram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Yes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Kite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the shapes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n-US" dirty="0"/>
              <a:t>Match each shape to its name: trapezium, parallelogram, kite.</a:t>
            </a:r>
          </a:p>
          <a:p>
            <a:r>
              <a:rPr lang="en-US" dirty="0"/>
              <a:t>Use the parallel sides to decide.</a:t>
            </a:r>
          </a:p>
        </p:txBody>
      </p:sp>
      <p:pic>
        <p:nvPicPr>
          <p:cNvPr id="4" name="Picture 5" descr="A kite with no parallel sid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36576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Teacher answer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Trapezium → trapezium</a:t>
            </a:r>
          </a:p>
          <a:p>
            <a:r>
              <a:rPr lang="en-US" dirty="0"/>
              <a:t>Parallelogram → parallelogram (also a trapezium)</a:t>
            </a:r>
          </a:p>
          <a:p>
            <a:r>
              <a:rPr lang="en-US" dirty="0"/>
              <a:t>Kite → kite (not a trapezium)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Expedition complete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trapezium has at least one pair of parallel sides.</a:t>
            </a:r>
          </a:p>
          <a:p>
            <a:r>
              <a:rPr lang="en-US" dirty="0"/>
              <a:t>You can spot parallel sides and name trapeziums, parallelograms and kites.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XUS Sample">
  <a:themeElements>
    <a:clrScheme name="NEXUS">
      <a:dk1>
        <a:srgbClr val="1B2533"/>
      </a:dk1>
      <a:lt1>
        <a:srgbClr val="FFFFFF"/>
      </a:lt1>
      <a:dk2>
        <a:srgbClr val="1F3A5F"/>
      </a:dk2>
      <a:lt2>
        <a:srgbClr val="E8F1FA"/>
      </a:lt2>
      <a:accent1>
        <a:srgbClr val="1F5FAD"/>
      </a:accent1>
      <a:accent2>
        <a:srgbClr val="D9480F"/>
      </a:accent2>
      <a:accent3>
        <a:srgbClr val="1B7F45"/>
      </a:accent3>
      <a:accent4>
        <a:srgbClr val="6B3FD1"/>
      </a:accent4>
      <a:accent5>
        <a:srgbClr val="0E7C8A"/>
      </a:accent5>
      <a:accent6>
        <a:srgbClr val="B3261E"/>
      </a:accent6>
      <a:hlink>
        <a:srgbClr val="1F5FAD"/>
      </a:hlink>
      <a:folHlink>
        <a:srgbClr val="6B3FD1"/>
      </a:folHlink>
    </a:clrScheme>
    <a:fontScheme name="NEXU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NEXU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EXUS Sample">
  <a:themeElements>
    <a:clrScheme name="NEXUS">
      <a:dk1>
        <a:srgbClr val="1B2533"/>
      </a:dk1>
      <a:lt1>
        <a:srgbClr val="FFFFFF"/>
      </a:lt1>
      <a:dk2>
        <a:srgbClr val="1F3A5F"/>
      </a:dk2>
      <a:lt2>
        <a:srgbClr val="E8F1FA"/>
      </a:lt2>
      <a:accent1>
        <a:srgbClr val="1F5FAD"/>
      </a:accent1>
      <a:accent2>
        <a:srgbClr val="D9480F"/>
      </a:accent2>
      <a:accent3>
        <a:srgbClr val="1B7F45"/>
      </a:accent3>
      <a:accent4>
        <a:srgbClr val="6B3FD1"/>
      </a:accent4>
      <a:accent5>
        <a:srgbClr val="0E7C8A"/>
      </a:accent5>
      <a:accent6>
        <a:srgbClr val="B3261E"/>
      </a:accent6>
      <a:hlink>
        <a:srgbClr val="1F5FAD"/>
      </a:hlink>
      <a:folHlink>
        <a:srgbClr val="6B3FD1"/>
      </a:folHlink>
    </a:clrScheme>
    <a:fontScheme name="NEXU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NEXU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NEXUS Play Studio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Trapezium Quest — Grade 8 (sample)</dc:title>
  <dc:creator>NEXUS Play Studio sample</dc:creator>
  <dcterms:created xsi:type="dcterms:W3CDTF">2026-01-01T00:00:00Z</dcterms:created>
</cp:coreProperties>
</file>